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60" r:id="rId6"/>
    <p:sldId id="265" r:id="rId7"/>
    <p:sldId id="263" r:id="rId8"/>
    <p:sldId id="266" r:id="rId9"/>
    <p:sldId id="264" r:id="rId10"/>
    <p:sldId id="267" r:id="rId11"/>
    <p:sldId id="262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A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19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% gain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BE-D44A-9287-BCB6198845B6}"/>
              </c:ext>
            </c:extLst>
          </c:dPt>
          <c:dPt>
            <c:idx val="1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BE-D44A-9287-BCB6198845B6}"/>
              </c:ext>
            </c:extLst>
          </c:dPt>
          <c:dPt>
            <c:idx val="2"/>
            <c:invertIfNegative val="0"/>
            <c:bubble3D val="0"/>
            <c:spPr>
              <a:solidFill>
                <a:srgbClr val="6399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BE-D44A-9287-BCB6198845B6}"/>
              </c:ext>
            </c:extLst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BE-D44A-9287-BCB6198845B6}"/>
              </c:ext>
            </c:extLst>
          </c:dPt>
          <c:dPt>
            <c:idx val="4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FBE-D44A-9287-BCB6198845B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Ultra-wealthy</c:v>
                </c:pt>
                <c:pt idx="1">
                  <c:v>Affluent</c:v>
                </c:pt>
                <c:pt idx="2">
                  <c:v>Middle class</c:v>
                </c:pt>
                <c:pt idx="3">
                  <c:v>Lower income</c:v>
                </c:pt>
                <c:pt idx="4">
                  <c:v>High social need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88</c:v>
                </c:pt>
                <c:pt idx="2">
                  <c:v>90</c:v>
                </c:pt>
                <c:pt idx="3">
                  <c:v>103</c:v>
                </c:pt>
                <c:pt idx="4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FBE-D44A-9287-BCB6198845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AC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43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4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1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B81A3-C4DD-5AE8-2250-107E73B9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A4DF0-B4B0-F516-274F-085AFAC7A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13AC-461D-2981-8A21-A79D1EA16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7E8B-6F1D-7F35-2230-BB7390358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6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F2C5-88A9-B0AC-C03C-3FC6F122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352A2-C91D-B029-6F82-DA5403090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BFED4-97A1-B5BD-0AC3-D31813E3D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DDBB7-FC7D-82A1-2460-9FB6C9285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16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BFA62-E0B5-04E7-2020-0AEEB053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C06E0-23E5-8B8B-31EF-4396B44EA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B0491-1802-701D-F8BB-3B9C8B12E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2FEBC-4604-6028-69CA-9402C812F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95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782F-AAAE-96FD-B45F-D657965C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8B8DE-F423-CA80-55A2-6E5777E9E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F3C7D-D86E-60BF-92C4-B69061E88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20B63-F971-5FF6-E82D-A216A1B78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57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DADF-93E1-C7EB-0230-7B01C95E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B1E53-C577-E412-516E-DECF2A637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AE903-D801-0B1F-F3D0-0C17CCEF1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B8C52-DE39-BE4C-EEEB-7747509D3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23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2647-10A6-BFBF-4AB0-1B6C4CA7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7B5FD-EB37-1265-AC00-1FF98DE1E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07E5E-B0CF-6BB7-4EFA-23596B404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7EAD1-2319-73D6-D1D8-52D42A1CC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59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C8F3-E42A-EA30-1751-C6826980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A269B-3FDF-B3D0-41D6-F9E0CA837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2A14D-A4B2-B14D-E46F-D0EA1BD30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FD707-7239-447D-0D8F-95218BC67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9D8B84-67E6-335E-90FC-954EB546B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6617" y="473339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D2DE8-AF2D-E841-8A36-94DBC474D405}" type="slidenum">
              <a:rPr lang="en-DE" smtClean="0"/>
              <a:t>‹#›</a:t>
            </a:fld>
            <a:endParaRPr lang="en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seattlecitygis.opendata.arcgis.com/datasets/SeattleCityGIS::poverty-and-employment-status-seattle-neighborhoods/explore?filters=eyJGQU1JTElFU19QT1ZFUlRZX0RFVEVSTUlORUQiOlsyMTAsOTcxMDRdLCJGQU1JTElFU19CRUxPV19QT1ZFUlRZIjpbMCwzMDE1XX0%3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1F1E620-7F20-AE9A-B8D1-1D46F2D2DD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85" b="2"/>
          <a:stretch>
            <a:fillRect/>
          </a:stretch>
        </p:blipFill>
        <p:spPr>
          <a:xfrm>
            <a:off x="3318237" y="-251907"/>
            <a:ext cx="7607432" cy="5395408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6576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/ King County Housing dataset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2209EB97-8395-A77F-4CEA-B76FB63A3525}"/>
              </a:ext>
            </a:extLst>
          </p:cNvPr>
          <p:cNvSpPr/>
          <p:nvPr/>
        </p:nvSpPr>
        <p:spPr>
          <a:xfrm>
            <a:off x="450600" y="427434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Neuefische Data science and AI bootcamp, May 2026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5A4722E7-9FBF-847C-909A-CD14D3212E0E}"/>
              </a:ext>
            </a:extLst>
          </p:cNvPr>
          <p:cNvSpPr/>
          <p:nvPr/>
        </p:nvSpPr>
        <p:spPr>
          <a:xfrm>
            <a:off x="450600" y="386239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 Riklin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244026"/>
            <a:ext cx="3276451" cy="1467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latin typeface="+mj-lt"/>
                <a:ea typeface="+mj-ea"/>
                <a:cs typeface="+mj-cs"/>
              </a:rPr>
              <a:t>Meet Erin Robinsson</a:t>
            </a:r>
          </a:p>
        </p:txBody>
      </p:sp>
      <p:sp>
        <p:nvSpPr>
          <p:cNvPr id="3" name="Text 1"/>
          <p:cNvSpPr/>
          <p:nvPr/>
        </p:nvSpPr>
        <p:spPr>
          <a:xfrm>
            <a:off x="480060" y="2154674"/>
            <a:ext cx="3182691" cy="2490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/>
              <a:t>Philanthropist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/>
              <a:t>Invest in poor neighborhoods,  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/>
              <a:t>buying &amp; selling, 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/>
              <a:t>costs back + little profit, 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/>
              <a:t>socially responsible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54FF4-E475-1068-C36E-43FB9CDA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4" r="-2" b="26786"/>
          <a:stretch>
            <a:fillRect/>
          </a:stretch>
        </p:blipFill>
        <p:spPr>
          <a:xfrm>
            <a:off x="3984919" y="10"/>
            <a:ext cx="5159081" cy="51434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E5D960-3196-C810-0994-4992830CAAB4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52560" cy="960120"/>
          </a:xfrm>
          <a:prstGeom prst="rect">
            <a:avLst/>
          </a:prstGeom>
          <a:solidFill>
            <a:srgbClr val="162437"/>
          </a:solidFill>
          <a:ln w="12700">
            <a:solidFill>
              <a:srgbClr val="16243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409368"/>
            <a:ext cx="8595360" cy="68580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274320" y="1409368"/>
            <a:ext cx="91440" cy="695739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57200" y="1548814"/>
            <a:ext cx="210312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Underpriceds Properties at a good condition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40936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E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cheaper properties in good condition to avoid additional renovation investment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16188"/>
            <a:ext cx="8595360" cy="68580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274320" y="2516188"/>
            <a:ext cx="91440" cy="6858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57200" y="2755545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1200">
                <a:solidFill>
                  <a:schemeClr val="bg1"/>
                </a:solidFill>
              </a:rPr>
              <a:t>Projected Revenue </a:t>
            </a:r>
            <a:r>
              <a:rPr lang="en-DE" sz="1200">
                <a:solidFill>
                  <a:schemeClr val="bg1"/>
                </a:solidFill>
                <a:cs typeface="Calibri" pitchFamily="34" charset="-120"/>
              </a:rPr>
              <a:t>upon</a:t>
            </a:r>
            <a:r>
              <a:rPr lang="en-DE" sz="1200">
                <a:solidFill>
                  <a:schemeClr val="bg1"/>
                </a:solidFill>
              </a:rPr>
              <a:t> Sale (Year 10)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260762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rgbClr val="8EAC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613069"/>
            <a:ext cx="8595360" cy="68580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274320" y="3613069"/>
            <a:ext cx="9144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57200" y="3818809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population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62300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1200">
                <a:solidFill>
                  <a:srgbClr val="8EACC4"/>
                </a:solidFill>
                <a:latin typeface="Calibri" pitchFamily="34" charset="0"/>
                <a:cs typeface="Calibri" pitchFamily="34" charset="-120"/>
              </a:rPr>
              <a:t>Targeting lower-to-middle-income areas for stable rental income and social impact</a:t>
            </a:r>
            <a:endParaRPr lang="en-US" sz="1200" dirty="0">
              <a:solidFill>
                <a:srgbClr val="8EAC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4A67B3B-AF0C-733E-43CE-05FB03523771}"/>
              </a:ext>
            </a:extLst>
          </p:cNvPr>
          <p:cNvSpPr/>
          <p:nvPr/>
        </p:nvSpPr>
        <p:spPr>
          <a:xfrm>
            <a:off x="2834640" y="251618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1200">
                <a:solidFill>
                  <a:srgbClr val="8EACC4"/>
                </a:solidFill>
                <a:latin typeface="Calibri" pitchFamily="34" charset="0"/>
                <a:cs typeface="Calibri" pitchFamily="34" charset="-120"/>
              </a:rPr>
              <a:t>Focusing on locations with growth potential</a:t>
            </a:r>
            <a:endParaRPr lang="en-US" sz="1200" dirty="0">
              <a:solidFill>
                <a:srgbClr val="8EAC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E9CE01-9756-EFCF-F422-77984EC57B91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Gain by </a:t>
            </a: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(2015-2025)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High-need areas saw the largest % gains — driven by low 2015 base prices, not rising wealth.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87630102"/>
              </p:ext>
            </p:extLst>
          </p:nvPr>
        </p:nvGraphicFramePr>
        <p:xfrm>
          <a:off x="274319" y="1205218"/>
          <a:ext cx="5749963" cy="3378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46030" y="1250938"/>
            <a:ext cx="1823921" cy="54864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3"/>
          <p:cNvSpPr/>
          <p:nvPr/>
        </p:nvSpPr>
        <p:spPr>
          <a:xfrm>
            <a:off x="6546030" y="1250938"/>
            <a:ext cx="55246" cy="54864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6728910" y="1287514"/>
            <a:ext cx="214077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46030" y="1924733"/>
            <a:ext cx="1823921" cy="54864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6546030" y="1924733"/>
            <a:ext cx="55246" cy="5486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6728910" y="1961309"/>
            <a:ext cx="214077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46030" y="3263913"/>
            <a:ext cx="1823921" cy="54864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1"/>
          <p:cNvSpPr/>
          <p:nvPr/>
        </p:nvSpPr>
        <p:spPr>
          <a:xfrm>
            <a:off x="6546030" y="3263913"/>
            <a:ext cx="55246" cy="5486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6728910" y="3300489"/>
            <a:ext cx="214077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46030" y="3933503"/>
            <a:ext cx="1823921" cy="54864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546030" y="3933503"/>
            <a:ext cx="55246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6728910" y="4006654"/>
            <a:ext cx="214077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Wealthy</a:t>
            </a:r>
            <a:endParaRPr lang="en-US" sz="1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2671896-9083-BEE5-B0B3-AC07CF27EEB0}"/>
              </a:ext>
            </a:extLst>
          </p:cNvPr>
          <p:cNvSpPr/>
          <p:nvPr/>
        </p:nvSpPr>
        <p:spPr>
          <a:xfrm>
            <a:off x="6546030" y="2594323"/>
            <a:ext cx="1823921" cy="54864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2E533C1C-C43D-219D-1C6D-7F0C00654EC5}"/>
              </a:ext>
            </a:extLst>
          </p:cNvPr>
          <p:cNvSpPr/>
          <p:nvPr/>
        </p:nvSpPr>
        <p:spPr>
          <a:xfrm>
            <a:off x="6546030" y="2594323"/>
            <a:ext cx="55246" cy="548640"/>
          </a:xfrm>
          <a:prstGeom prst="rect">
            <a:avLst/>
          </a:prstGeom>
          <a:solidFill>
            <a:srgbClr val="639A21"/>
          </a:solidFill>
          <a:ln w="12700">
            <a:noFill/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B49F6886-F2A8-E107-3956-AE2600C676AF}"/>
              </a:ext>
            </a:extLst>
          </p:cNvPr>
          <p:cNvSpPr/>
          <p:nvPr/>
        </p:nvSpPr>
        <p:spPr>
          <a:xfrm>
            <a:off x="6728910" y="2630899"/>
            <a:ext cx="214077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class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66FC60-F9D3-14BC-1E9D-DFFF98C89A8E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882" y="7235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2000" b="1">
                <a:solidFill>
                  <a:schemeClr val="accent1">
                    <a:lumMod val="50000"/>
                  </a:schemeClr>
                </a:solidFill>
              </a:rPr>
              <a:t>1st Hypothesis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DAF6F0C-3613-08F2-A8FE-B2C7631BBC56}"/>
              </a:ext>
            </a:extLst>
          </p:cNvPr>
          <p:cNvSpPr/>
          <p:nvPr/>
        </p:nvSpPr>
        <p:spPr>
          <a:xfrm>
            <a:off x="365760" y="1311062"/>
            <a:ext cx="6822141" cy="1598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DE" sz="1400">
                <a:solidFill>
                  <a:schemeClr val="accent1">
                    <a:lumMod val="50000"/>
                  </a:schemeClr>
                </a:solidFill>
              </a:rPr>
              <a:t>More than 50% of the houses in low-income zones have lower sale price per square meter, than the medians price of the whole dataset.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D5DA8-E67D-6F13-E8BF-FBB2B945BFDB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/>
              <a:t>5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245604-7064-DE40-4CE4-72CE4AEBCD03}"/>
              </a:ext>
            </a:extLst>
          </p:cNvPr>
          <p:cNvGrpSpPr/>
          <p:nvPr/>
        </p:nvGrpSpPr>
        <p:grpSpPr>
          <a:xfrm>
            <a:off x="5760720" y="3293029"/>
            <a:ext cx="2331720" cy="660406"/>
            <a:chOff x="274320" y="1409368"/>
            <a:chExt cx="2331720" cy="868680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3E7BC72A-8230-62E2-B31A-7CD0C24CAA3D}"/>
                </a:ext>
              </a:extLst>
            </p:cNvPr>
            <p:cNvSpPr/>
            <p:nvPr/>
          </p:nvSpPr>
          <p:spPr>
            <a:xfrm>
              <a:off x="274320" y="1409368"/>
              <a:ext cx="2331720" cy="868680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957ED231-4138-FD5B-E4C3-9E3A0F71924D}"/>
                </a:ext>
              </a:extLst>
            </p:cNvPr>
            <p:cNvSpPr/>
            <p:nvPr/>
          </p:nvSpPr>
          <p:spPr>
            <a:xfrm>
              <a:off x="274320" y="1409368"/>
              <a:ext cx="91440" cy="868680"/>
            </a:xfrm>
            <a:prstGeom prst="rect">
              <a:avLst/>
            </a:prstGeom>
            <a:solidFill>
              <a:srgbClr val="7F77DD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EC2CCFD2-D06D-4421-5864-999EFBC0479A}"/>
                </a:ext>
              </a:extLst>
            </p:cNvPr>
            <p:cNvSpPr/>
            <p:nvPr/>
          </p:nvSpPr>
          <p:spPr>
            <a:xfrm>
              <a:off x="457200" y="1652148"/>
              <a:ext cx="2103120" cy="4069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Underpriceds Properties at a good condition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2D24F2-7AB0-92CE-211C-08AAF4E1C108}"/>
              </a:ext>
            </a:extLst>
          </p:cNvPr>
          <p:cNvGrpSpPr/>
          <p:nvPr/>
        </p:nvGrpSpPr>
        <p:grpSpPr>
          <a:xfrm>
            <a:off x="3091871" y="3293029"/>
            <a:ext cx="2331721" cy="660406"/>
            <a:chOff x="274320" y="2516188"/>
            <a:chExt cx="2331721" cy="868680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5E7269BA-C90A-209C-3997-46BCC9D8CA61}"/>
                </a:ext>
              </a:extLst>
            </p:cNvPr>
            <p:cNvSpPr/>
            <p:nvPr/>
          </p:nvSpPr>
          <p:spPr>
            <a:xfrm>
              <a:off x="274321" y="2516188"/>
              <a:ext cx="2331720" cy="868680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B34B9938-08D7-F86F-5B7F-23DE801CB890}"/>
                </a:ext>
              </a:extLst>
            </p:cNvPr>
            <p:cNvSpPr/>
            <p:nvPr/>
          </p:nvSpPr>
          <p:spPr>
            <a:xfrm>
              <a:off x="274320" y="2516188"/>
              <a:ext cx="91440" cy="868680"/>
            </a:xfrm>
            <a:prstGeom prst="rect">
              <a:avLst/>
            </a:prstGeom>
            <a:solidFill>
              <a:srgbClr val="378ADD"/>
            </a:solidFill>
            <a:ln w="12700">
              <a:solidFill>
                <a:srgbClr val="378ADD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B81832C4-3E4D-0E78-ABE1-3FD1DEB42EF8}"/>
                </a:ext>
              </a:extLst>
            </p:cNvPr>
            <p:cNvSpPr/>
            <p:nvPr/>
          </p:nvSpPr>
          <p:spPr>
            <a:xfrm>
              <a:off x="502920" y="2824435"/>
              <a:ext cx="2103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DE" sz="1200">
                  <a:solidFill>
                    <a:schemeClr val="bg1"/>
                  </a:solidFill>
                </a:rPr>
                <a:t>Projected Revenue </a:t>
              </a:r>
              <a:r>
                <a:rPr lang="en-DE" sz="1200">
                  <a:solidFill>
                    <a:schemeClr val="bg1"/>
                  </a:solidFill>
                  <a:cs typeface="Calibri" pitchFamily="34" charset="-120"/>
                </a:rPr>
                <a:t>upon</a:t>
              </a:r>
              <a:r>
                <a:rPr lang="en-DE" sz="1200">
                  <a:solidFill>
                    <a:schemeClr val="bg1"/>
                  </a:solidFill>
                </a:rPr>
                <a:t> Sale (Year 10)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E577D5-8120-FB68-E5F3-445641395B69}"/>
              </a:ext>
            </a:extLst>
          </p:cNvPr>
          <p:cNvGrpSpPr/>
          <p:nvPr/>
        </p:nvGrpSpPr>
        <p:grpSpPr>
          <a:xfrm>
            <a:off x="457200" y="3298388"/>
            <a:ext cx="2331720" cy="660408"/>
            <a:chOff x="274320" y="3613067"/>
            <a:chExt cx="2331720" cy="868682"/>
          </a:xfrm>
        </p:grpSpPr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62FF34CC-8B7E-8C1C-411C-82C41C009567}"/>
                </a:ext>
              </a:extLst>
            </p:cNvPr>
            <p:cNvSpPr/>
            <p:nvPr/>
          </p:nvSpPr>
          <p:spPr>
            <a:xfrm>
              <a:off x="274320" y="3613067"/>
              <a:ext cx="2331720" cy="868679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Shape 13">
              <a:extLst>
                <a:ext uri="{FF2B5EF4-FFF2-40B4-BE49-F238E27FC236}">
                  <a16:creationId xmlns:a16="http://schemas.microsoft.com/office/drawing/2014/main" id="{DE3F3B2A-384B-25E7-F4AF-289ACC84C074}"/>
                </a:ext>
              </a:extLst>
            </p:cNvPr>
            <p:cNvSpPr/>
            <p:nvPr/>
          </p:nvSpPr>
          <p:spPr>
            <a:xfrm>
              <a:off x="274320" y="3613069"/>
              <a:ext cx="91440" cy="86868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B8932232-2AF2-295A-6932-6CE3D23C649C}"/>
                </a:ext>
              </a:extLst>
            </p:cNvPr>
            <p:cNvSpPr/>
            <p:nvPr/>
          </p:nvSpPr>
          <p:spPr>
            <a:xfrm>
              <a:off x="457200" y="3909524"/>
              <a:ext cx="2103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Low-income population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3B155-0355-02B2-1DC2-503D9073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58AD86-4F66-91D6-9982-E9F3F1C1CC52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437"/>
          </a:solidFill>
          <a:ln w="12700">
            <a:solidFill>
              <a:srgbClr val="16243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580E6B-02C9-04F6-7701-6CCF8C256469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000" baseline="30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Hypothesis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CA7D52-5C33-0FD6-49CF-7F920EFD8F9A}"/>
              </a:ext>
            </a:extLst>
          </p:cNvPr>
          <p:cNvSpPr/>
          <p:nvPr/>
        </p:nvSpPr>
        <p:spPr>
          <a:xfrm>
            <a:off x="274320" y="1291132"/>
            <a:ext cx="3266739" cy="3492501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005A5E-F55B-CBF4-CB28-F12DFF054F61}"/>
              </a:ext>
            </a:extLst>
          </p:cNvPr>
          <p:cNvSpPr/>
          <p:nvPr/>
        </p:nvSpPr>
        <p:spPr>
          <a:xfrm>
            <a:off x="252506" y="1291130"/>
            <a:ext cx="113254" cy="34925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ABFE1D-E364-BB1E-85A3-3C9B16BBEC2B}"/>
              </a:ext>
            </a:extLst>
          </p:cNvPr>
          <p:cNvSpPr/>
          <p:nvPr/>
        </p:nvSpPr>
        <p:spPr>
          <a:xfrm>
            <a:off x="457200" y="1291133"/>
            <a:ext cx="2958353" cy="2832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DE" sz="1400">
                <a:solidFill>
                  <a:schemeClr val="bg1"/>
                </a:solidFill>
              </a:rPr>
              <a:t>More than 50% of the houses in low-income zones have lower sale price per square meter, than the medians price of the whole dataset.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1B74BB-5A48-A4ED-80A7-95C38763D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400" y="1291134"/>
            <a:ext cx="5080000" cy="3492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BB65AD-0588-7AA9-60CF-9941E9606770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4731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000F6-D2F2-7C9E-7283-57FFE536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317F98-6FC6-D3B2-2604-C6A0E6280ABD}"/>
              </a:ext>
            </a:extLst>
          </p:cNvPr>
          <p:cNvSpPr/>
          <p:nvPr/>
        </p:nvSpPr>
        <p:spPr>
          <a:xfrm>
            <a:off x="258882" y="7235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2000" b="1">
                <a:solidFill>
                  <a:schemeClr val="accent1">
                    <a:lumMod val="50000"/>
                  </a:schemeClr>
                </a:solidFill>
              </a:rPr>
              <a:t>2nd Hypothesis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CC92FA6-0C0F-5ABA-9AC7-5CF27ABCEB91}"/>
              </a:ext>
            </a:extLst>
          </p:cNvPr>
          <p:cNvSpPr/>
          <p:nvPr/>
        </p:nvSpPr>
        <p:spPr>
          <a:xfrm>
            <a:off x="365760" y="1311062"/>
            <a:ext cx="6822141" cy="145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DE" sz="1400">
                <a:solidFill>
                  <a:schemeClr val="accent1">
                    <a:lumMod val="50000"/>
                  </a:schemeClr>
                </a:solidFill>
              </a:rPr>
              <a:t>More than 60% of waterfront houses in low-income zone have lower grade rating, than the dataset average.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A9C40-8944-A9B5-5298-712B37926D84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/>
              <a:t>7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CD1D4F-3CBB-96B7-600B-B0D568A96CED}"/>
              </a:ext>
            </a:extLst>
          </p:cNvPr>
          <p:cNvGrpSpPr/>
          <p:nvPr/>
        </p:nvGrpSpPr>
        <p:grpSpPr>
          <a:xfrm>
            <a:off x="5760720" y="3293029"/>
            <a:ext cx="2331720" cy="660406"/>
            <a:chOff x="274320" y="1409368"/>
            <a:chExt cx="2331720" cy="868680"/>
          </a:xfrm>
        </p:grpSpPr>
        <p:sp>
          <p:nvSpPr>
            <p:cNvPr id="18" name="Shape 2">
              <a:extLst>
                <a:ext uri="{FF2B5EF4-FFF2-40B4-BE49-F238E27FC236}">
                  <a16:creationId xmlns:a16="http://schemas.microsoft.com/office/drawing/2014/main" id="{5E573A10-62F8-E7C1-9098-65CACB988A8A}"/>
                </a:ext>
              </a:extLst>
            </p:cNvPr>
            <p:cNvSpPr/>
            <p:nvPr/>
          </p:nvSpPr>
          <p:spPr>
            <a:xfrm>
              <a:off x="274320" y="1409368"/>
              <a:ext cx="2331720" cy="868680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08513DB6-9B8C-A7B5-BEB0-FA6A69C6459D}"/>
                </a:ext>
              </a:extLst>
            </p:cNvPr>
            <p:cNvSpPr/>
            <p:nvPr/>
          </p:nvSpPr>
          <p:spPr>
            <a:xfrm>
              <a:off x="274320" y="1409368"/>
              <a:ext cx="91440" cy="868680"/>
            </a:xfrm>
            <a:prstGeom prst="rect">
              <a:avLst/>
            </a:prstGeom>
            <a:solidFill>
              <a:srgbClr val="7F77DD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C815BB37-086D-24B6-8B17-C16B426B1EBE}"/>
                </a:ext>
              </a:extLst>
            </p:cNvPr>
            <p:cNvSpPr/>
            <p:nvPr/>
          </p:nvSpPr>
          <p:spPr>
            <a:xfrm>
              <a:off x="457200" y="1652148"/>
              <a:ext cx="2103120" cy="4069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Underpriceds Properties at a good condition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D99150-9781-F80E-7DC4-B231D13CA779}"/>
              </a:ext>
            </a:extLst>
          </p:cNvPr>
          <p:cNvGrpSpPr/>
          <p:nvPr/>
        </p:nvGrpSpPr>
        <p:grpSpPr>
          <a:xfrm>
            <a:off x="3091871" y="3293029"/>
            <a:ext cx="2331721" cy="660406"/>
            <a:chOff x="274320" y="2516188"/>
            <a:chExt cx="2331721" cy="868680"/>
          </a:xfrm>
        </p:grpSpPr>
        <p:sp>
          <p:nvSpPr>
            <p:cNvPr id="22" name="Shape 7">
              <a:extLst>
                <a:ext uri="{FF2B5EF4-FFF2-40B4-BE49-F238E27FC236}">
                  <a16:creationId xmlns:a16="http://schemas.microsoft.com/office/drawing/2014/main" id="{BF6D9F7C-8B30-1AF9-7FF5-654DFE064F37}"/>
                </a:ext>
              </a:extLst>
            </p:cNvPr>
            <p:cNvSpPr/>
            <p:nvPr/>
          </p:nvSpPr>
          <p:spPr>
            <a:xfrm>
              <a:off x="274321" y="2516188"/>
              <a:ext cx="2331720" cy="868680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A281E6D8-3ACA-F140-89C1-287F0A7972FF}"/>
                </a:ext>
              </a:extLst>
            </p:cNvPr>
            <p:cNvSpPr/>
            <p:nvPr/>
          </p:nvSpPr>
          <p:spPr>
            <a:xfrm>
              <a:off x="274320" y="2516188"/>
              <a:ext cx="91440" cy="868680"/>
            </a:xfrm>
            <a:prstGeom prst="rect">
              <a:avLst/>
            </a:prstGeom>
            <a:solidFill>
              <a:srgbClr val="378ADD"/>
            </a:solidFill>
            <a:ln w="12700">
              <a:solidFill>
                <a:srgbClr val="378ADD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57F07263-3623-3AC9-2A32-827C6AA3EAC2}"/>
                </a:ext>
              </a:extLst>
            </p:cNvPr>
            <p:cNvSpPr/>
            <p:nvPr/>
          </p:nvSpPr>
          <p:spPr>
            <a:xfrm>
              <a:off x="502920" y="2824435"/>
              <a:ext cx="2103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DE" sz="1200">
                  <a:solidFill>
                    <a:schemeClr val="bg1"/>
                  </a:solidFill>
                </a:rPr>
                <a:t>Projected Revenue </a:t>
              </a:r>
              <a:r>
                <a:rPr lang="en-DE" sz="1200">
                  <a:solidFill>
                    <a:schemeClr val="bg1"/>
                  </a:solidFill>
                  <a:cs typeface="Calibri" pitchFamily="34" charset="-120"/>
                </a:rPr>
                <a:t>upon</a:t>
              </a:r>
              <a:r>
                <a:rPr lang="en-DE" sz="1200">
                  <a:solidFill>
                    <a:schemeClr val="bg1"/>
                  </a:solidFill>
                </a:rPr>
                <a:t> Sale (Year 10)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C881FE3-0378-2F13-0AF2-7C828992AC27}"/>
              </a:ext>
            </a:extLst>
          </p:cNvPr>
          <p:cNvGrpSpPr/>
          <p:nvPr/>
        </p:nvGrpSpPr>
        <p:grpSpPr>
          <a:xfrm>
            <a:off x="457200" y="3298388"/>
            <a:ext cx="2331720" cy="660408"/>
            <a:chOff x="274320" y="3613067"/>
            <a:chExt cx="2331720" cy="868682"/>
          </a:xfrm>
        </p:grpSpPr>
        <p:sp>
          <p:nvSpPr>
            <p:cNvPr id="26" name="Shape 12">
              <a:extLst>
                <a:ext uri="{FF2B5EF4-FFF2-40B4-BE49-F238E27FC236}">
                  <a16:creationId xmlns:a16="http://schemas.microsoft.com/office/drawing/2014/main" id="{17A48095-866B-A423-2711-3BCA69376359}"/>
                </a:ext>
              </a:extLst>
            </p:cNvPr>
            <p:cNvSpPr/>
            <p:nvPr/>
          </p:nvSpPr>
          <p:spPr>
            <a:xfrm>
              <a:off x="274320" y="3613067"/>
              <a:ext cx="2331720" cy="868679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" name="Shape 13">
              <a:extLst>
                <a:ext uri="{FF2B5EF4-FFF2-40B4-BE49-F238E27FC236}">
                  <a16:creationId xmlns:a16="http://schemas.microsoft.com/office/drawing/2014/main" id="{9433EAB3-089A-31E2-FE20-B941EF45916E}"/>
                </a:ext>
              </a:extLst>
            </p:cNvPr>
            <p:cNvSpPr/>
            <p:nvPr/>
          </p:nvSpPr>
          <p:spPr>
            <a:xfrm>
              <a:off x="274320" y="3613069"/>
              <a:ext cx="91440" cy="86868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72BD2685-8DB5-E492-6609-B5956BE0934E}"/>
                </a:ext>
              </a:extLst>
            </p:cNvPr>
            <p:cNvSpPr/>
            <p:nvPr/>
          </p:nvSpPr>
          <p:spPr>
            <a:xfrm>
              <a:off x="457200" y="3909524"/>
              <a:ext cx="2103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Low-income population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685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49DDD-959B-36F0-A6DA-691B9315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3999EE-22E9-7440-830A-30EACDC3C06E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437"/>
          </a:solidFill>
          <a:ln w="12700">
            <a:solidFill>
              <a:srgbClr val="16243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C2D38D-0F71-AC8A-1979-A04C76D644A4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baseline="30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Hypotheses</a:t>
            </a:r>
            <a:endParaRPr lang="en-US"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C8C5E-F46D-A4A3-E7F3-7C6048584629}"/>
              </a:ext>
            </a:extLst>
          </p:cNvPr>
          <p:cNvSpPr/>
          <p:nvPr/>
        </p:nvSpPr>
        <p:spPr>
          <a:xfrm>
            <a:off x="274320" y="1149215"/>
            <a:ext cx="8595360" cy="589938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09BF6C0-DD0B-3827-AC22-49E001281625}"/>
              </a:ext>
            </a:extLst>
          </p:cNvPr>
          <p:cNvSpPr/>
          <p:nvPr/>
        </p:nvSpPr>
        <p:spPr>
          <a:xfrm>
            <a:off x="274320" y="1149215"/>
            <a:ext cx="91440" cy="58993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9628E0-8F70-3225-34D5-AA09D488BA7E}"/>
              </a:ext>
            </a:extLst>
          </p:cNvPr>
          <p:cNvSpPr/>
          <p:nvPr/>
        </p:nvSpPr>
        <p:spPr>
          <a:xfrm>
            <a:off x="502920" y="1276921"/>
            <a:ext cx="8366760" cy="3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DE" sz="1400">
                <a:solidFill>
                  <a:schemeClr val="bg1"/>
                </a:solidFill>
              </a:rPr>
              <a:t>More than 60% of waterfront houses in low-income zone have lower have lower grade rating, than the dataset average. 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899EDC1-0336-2214-496A-AE29606B343A}"/>
              </a:ext>
            </a:extLst>
          </p:cNvPr>
          <p:cNvSpPr/>
          <p:nvPr/>
        </p:nvSpPr>
        <p:spPr>
          <a:xfrm>
            <a:off x="2834640" y="1240655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rgbClr val="8EACC4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840E5C-DA72-693D-ECEF-3200A8B2E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975598"/>
            <a:ext cx="5994400" cy="2857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D44B2F-6003-E683-1121-AAF1FCACFE3D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8111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60087-4C34-C0EE-CEFD-843722AA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DFE6FE-4D83-8508-65D4-40916DD0805F}"/>
              </a:ext>
            </a:extLst>
          </p:cNvPr>
          <p:cNvSpPr/>
          <p:nvPr/>
        </p:nvSpPr>
        <p:spPr>
          <a:xfrm>
            <a:off x="258882" y="7235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2000" b="1">
                <a:solidFill>
                  <a:schemeClr val="accent1">
                    <a:lumMod val="50000"/>
                  </a:schemeClr>
                </a:solidFill>
              </a:rPr>
              <a:t>3rd Hypothesis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104959D-E7D1-AB2D-7DA7-80307FD8F455}"/>
              </a:ext>
            </a:extLst>
          </p:cNvPr>
          <p:cNvSpPr/>
          <p:nvPr/>
        </p:nvSpPr>
        <p:spPr>
          <a:xfrm>
            <a:off x="365760" y="1311061"/>
            <a:ext cx="6822141" cy="1127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DE" sz="1400">
                <a:solidFill>
                  <a:schemeClr val="accent1">
                    <a:lumMod val="50000"/>
                  </a:schemeClr>
                </a:solidFill>
              </a:rPr>
              <a:t>Lower income zones yield the highest concentration of properties with condition rating 4+ and price (per square meter), lower than dataset median.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71E83-F342-916F-B5A4-D04CD8A9C6DC}"/>
              </a:ext>
            </a:extLst>
          </p:cNvPr>
          <p:cNvSpPr txBox="1"/>
          <p:nvPr/>
        </p:nvSpPr>
        <p:spPr>
          <a:xfrm>
            <a:off x="8750901" y="4707139"/>
            <a:ext cx="25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/>
              <a:t>9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B8EB44A-D833-484C-D621-4479A81B1029}"/>
              </a:ext>
            </a:extLst>
          </p:cNvPr>
          <p:cNvGrpSpPr/>
          <p:nvPr/>
        </p:nvGrpSpPr>
        <p:grpSpPr>
          <a:xfrm>
            <a:off x="3091872" y="3289424"/>
            <a:ext cx="2331720" cy="660406"/>
            <a:chOff x="274320" y="1409368"/>
            <a:chExt cx="2331720" cy="868680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9AE68DA0-3839-B8D4-CACA-29B43297B3BF}"/>
                </a:ext>
              </a:extLst>
            </p:cNvPr>
            <p:cNvSpPr/>
            <p:nvPr/>
          </p:nvSpPr>
          <p:spPr>
            <a:xfrm>
              <a:off x="274320" y="1409368"/>
              <a:ext cx="2331720" cy="868680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" name="Shape 3">
              <a:extLst>
                <a:ext uri="{FF2B5EF4-FFF2-40B4-BE49-F238E27FC236}">
                  <a16:creationId xmlns:a16="http://schemas.microsoft.com/office/drawing/2014/main" id="{A8F770A6-026A-FA63-22DE-BF017DC51D4E}"/>
                </a:ext>
              </a:extLst>
            </p:cNvPr>
            <p:cNvSpPr/>
            <p:nvPr/>
          </p:nvSpPr>
          <p:spPr>
            <a:xfrm>
              <a:off x="274320" y="1409368"/>
              <a:ext cx="91440" cy="868680"/>
            </a:xfrm>
            <a:prstGeom prst="rect">
              <a:avLst/>
            </a:prstGeom>
            <a:solidFill>
              <a:srgbClr val="7F77DD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7EBADDD3-3FB4-2BCC-66DC-A62A250431C9}"/>
                </a:ext>
              </a:extLst>
            </p:cNvPr>
            <p:cNvSpPr/>
            <p:nvPr/>
          </p:nvSpPr>
          <p:spPr>
            <a:xfrm>
              <a:off x="457200" y="1652148"/>
              <a:ext cx="2103120" cy="4069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Underpriceds Properties at a good condition</a:t>
              </a:r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D6A997-757A-4827-89B7-B2F59300E079}"/>
              </a:ext>
            </a:extLst>
          </p:cNvPr>
          <p:cNvGrpSpPr/>
          <p:nvPr/>
        </p:nvGrpSpPr>
        <p:grpSpPr>
          <a:xfrm>
            <a:off x="457200" y="3298388"/>
            <a:ext cx="2331720" cy="660408"/>
            <a:chOff x="274320" y="3613067"/>
            <a:chExt cx="2331720" cy="868682"/>
          </a:xfrm>
        </p:grpSpPr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9F49B650-FA34-E7E5-4C78-1E15C8864E7B}"/>
                </a:ext>
              </a:extLst>
            </p:cNvPr>
            <p:cNvSpPr/>
            <p:nvPr/>
          </p:nvSpPr>
          <p:spPr>
            <a:xfrm>
              <a:off x="274320" y="3613067"/>
              <a:ext cx="2331720" cy="868679"/>
            </a:xfrm>
            <a:prstGeom prst="rect">
              <a:avLst/>
            </a:prstGeom>
            <a:solidFill>
              <a:srgbClr val="162437"/>
            </a:solidFill>
            <a:ln w="12700">
              <a:solidFill>
                <a:srgbClr val="1B2E42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E5D671A7-4474-83CF-3473-0CAA42C86B25}"/>
                </a:ext>
              </a:extLst>
            </p:cNvPr>
            <p:cNvSpPr/>
            <p:nvPr/>
          </p:nvSpPr>
          <p:spPr>
            <a:xfrm>
              <a:off x="274320" y="3613069"/>
              <a:ext cx="91440" cy="86868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6" name="Text 14">
              <a:extLst>
                <a:ext uri="{FF2B5EF4-FFF2-40B4-BE49-F238E27FC236}">
                  <a16:creationId xmlns:a16="http://schemas.microsoft.com/office/drawing/2014/main" id="{6FF64232-BA2A-C503-3DCA-068A58E604F5}"/>
                </a:ext>
              </a:extLst>
            </p:cNvPr>
            <p:cNvSpPr/>
            <p:nvPr/>
          </p:nvSpPr>
          <p:spPr>
            <a:xfrm>
              <a:off x="457200" y="3909524"/>
              <a:ext cx="2103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Low-income population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7751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7E6F0-7D2D-433A-A19E-62C9FD58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162A61-A404-CA61-A477-3DDF2E6935DE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437"/>
          </a:solidFill>
          <a:ln w="12700">
            <a:solidFill>
              <a:srgbClr val="16243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A2523A-2CA2-5F97-49E2-D0563E068DF0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000" baseline="30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Hypotheses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61E09E4-D237-6F00-7772-5B834FA0FCC4}"/>
              </a:ext>
            </a:extLst>
          </p:cNvPr>
          <p:cNvSpPr/>
          <p:nvPr/>
        </p:nvSpPr>
        <p:spPr>
          <a:xfrm>
            <a:off x="274320" y="1156193"/>
            <a:ext cx="8595360" cy="868680"/>
          </a:xfrm>
          <a:prstGeom prst="rect">
            <a:avLst/>
          </a:prstGeom>
          <a:solidFill>
            <a:srgbClr val="162437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3588AE7-AF94-C4B6-C24F-8819763DC9C5}"/>
              </a:ext>
            </a:extLst>
          </p:cNvPr>
          <p:cNvSpPr/>
          <p:nvPr/>
        </p:nvSpPr>
        <p:spPr>
          <a:xfrm>
            <a:off x="274320" y="1156193"/>
            <a:ext cx="9144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5D5E41-E318-9148-37DF-D27D43A375E4}"/>
              </a:ext>
            </a:extLst>
          </p:cNvPr>
          <p:cNvSpPr/>
          <p:nvPr/>
        </p:nvSpPr>
        <p:spPr>
          <a:xfrm>
            <a:off x="457200" y="1319221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DE" sz="1400">
                <a:solidFill>
                  <a:schemeClr val="bg1"/>
                </a:solidFill>
              </a:rPr>
              <a:t>Lower income zones yield the highest concentration of properties with condition rating 4+ and price (per square meter), lower than dataset median.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3614-A697-3060-4672-E7E9E5BDC914}"/>
              </a:ext>
            </a:extLst>
          </p:cNvPr>
          <p:cNvSpPr txBox="1"/>
          <p:nvPr/>
        </p:nvSpPr>
        <p:spPr>
          <a:xfrm>
            <a:off x="8653808" y="4707139"/>
            <a:ext cx="43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15D499-32CA-FB42-DFA7-0D304D10B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9" t="3546" b="10681"/>
          <a:stretch>
            <a:fillRect/>
          </a:stretch>
        </p:blipFill>
        <p:spPr>
          <a:xfrm>
            <a:off x="1544820" y="2220946"/>
            <a:ext cx="6054360" cy="25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06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A9A7E-5E60-28C1-8E47-D44E655A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2DB0A6F-1D9C-813C-40E7-E7A94609CD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85" b="2"/>
          <a:stretch>
            <a:fillRect/>
          </a:stretch>
        </p:blipFill>
        <p:spPr>
          <a:xfrm>
            <a:off x="1536569" y="-251907"/>
            <a:ext cx="7607432" cy="539540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B9E77E-F820-7F71-774D-C9A07F68B5D3}"/>
              </a:ext>
            </a:extLst>
          </p:cNvPr>
          <p:cNvSpPr/>
          <p:nvPr/>
        </p:nvSpPr>
        <p:spPr>
          <a:xfrm>
            <a:off x="714171" y="557585"/>
            <a:ext cx="2980038" cy="276902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Thank you</a:t>
            </a:r>
            <a:endParaRPr lang="en-US" sz="390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0E73A38A-2672-EADF-459A-50C2635B984C}"/>
              </a:ext>
            </a:extLst>
          </p:cNvPr>
          <p:cNvSpPr/>
          <p:nvPr/>
        </p:nvSpPr>
        <p:spPr>
          <a:xfrm>
            <a:off x="714171" y="3471925"/>
            <a:ext cx="2980040" cy="111398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>
                <a:solidFill>
                  <a:schemeClr val="accent1">
                    <a:lumMod val="50000"/>
                  </a:schemeClr>
                </a:solidFill>
              </a:rPr>
              <a:t>Questions?</a:t>
            </a:r>
            <a:endParaRPr lang="en-US" sz="240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7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F27C8-6929-65CB-C242-077E017D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6E01B1-B7C4-F741-5E3E-E6207C5D4917}"/>
              </a:ext>
            </a:extLst>
          </p:cNvPr>
          <p:cNvSpPr/>
          <p:nvPr/>
        </p:nvSpPr>
        <p:spPr>
          <a:xfrm>
            <a:off x="258882" y="7235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DE" sz="2000" b="1">
                <a:solidFill>
                  <a:schemeClr val="accent1">
                    <a:lumMod val="50000"/>
                  </a:schemeClr>
                </a:solidFill>
              </a:rPr>
              <a:t>Sources: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A1DF81B-44B8-99DC-60E3-CEEED1E98FC2}"/>
              </a:ext>
            </a:extLst>
          </p:cNvPr>
          <p:cNvSpPr/>
          <p:nvPr/>
        </p:nvSpPr>
        <p:spPr>
          <a:xfrm>
            <a:off x="365760" y="1311061"/>
            <a:ext cx="6822141" cy="1733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</a:rPr>
              <a:t>1. Seattle open data base:</a:t>
            </a:r>
          </a:p>
          <a:p>
            <a:pPr>
              <a:lnSpc>
                <a:spcPct val="150000"/>
              </a:lnSpc>
            </a:pPr>
            <a:r>
              <a:rPr lang="en-GB" sz="100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https://data-seattlecitygis.opendata.arcgis.com/datasets/SeattleCityGIS::poverty-and-employment-status-seattle-neighborhoods/explore?filters=eyJGQU1JTElFU19QT1ZFUlRZX0RFVEVSTUlORUQiOlsyMTAsOTcxMDRdLCJGQU1JTElFU19CRUxPV19QT1ZFUlRZIjpbMCwzMDE1XX0%3D</a:t>
            </a:r>
            <a:endParaRPr lang="en-GB" sz="100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GB" sz="100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</a:rPr>
              <a:t>2. Housing prices 1996- present</a:t>
            </a:r>
          </a:p>
          <a:p>
            <a:pPr>
              <a:lnSpc>
                <a:spcPct val="150000"/>
              </a:lnSpc>
            </a:pPr>
            <a:r>
              <a:rPr lang="en-GB" sz="1000">
                <a:solidFill>
                  <a:schemeClr val="accent1">
                    <a:lumMod val="50000"/>
                  </a:schemeClr>
                </a:solidFill>
              </a:rPr>
              <a:t>https://files.zillowstatic.com/research/public_csvs/zhvi/Zip_zhvi_uc_sfrcondo_tier_0.33_0.67_sm_sa_month.csv</a:t>
            </a:r>
            <a:endParaRPr lang="en-DE" sz="100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44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4117</TotalTime>
  <Words>418</Words>
  <Application>Microsoft Macintosh PowerPoint</Application>
  <PresentationFormat>On-screen Show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Seattle King County — Home Price Appreciation 2015–2025</dc:title>
  <dc:subject>PptxGenJS Presentation</dc:subject>
  <dc:creator>PptxGenJS</dc:creator>
  <cp:lastModifiedBy>Karin Riklin</cp:lastModifiedBy>
  <cp:revision>13</cp:revision>
  <dcterms:created xsi:type="dcterms:W3CDTF">2026-05-26T11:14:20Z</dcterms:created>
  <dcterms:modified xsi:type="dcterms:W3CDTF">2026-05-29T07:53:15Z</dcterms:modified>
</cp:coreProperties>
</file>